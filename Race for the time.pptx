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324" r:id="rId5"/>
    <p:sldId id="325" r:id="rId6"/>
    <p:sldId id="327" r:id="rId7"/>
    <p:sldId id="328" r:id="rId8"/>
    <p:sldId id="329" r:id="rId9"/>
    <p:sldId id="330" r:id="rId10"/>
    <p:sldId id="331" r:id="rId11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5033" autoAdjust="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83" d="100"/>
          <a:sy n="83" d="100"/>
        </p:scale>
        <p:origin x="391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6066785-CB6B-47D8-8CCB-2DF41A5D5A5C}" type="datetime1">
              <a:rPr lang="ru-RU" smtClean="0"/>
              <a:t>17.02.2026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CDF5CB6-FB9E-4318-9FA4-44B9D3BB1364}" type="datetime1">
              <a:rPr lang="ru-RU" noProof="0" smtClean="0"/>
              <a:t>17.02.2026</a:t>
            </a:fld>
            <a:endParaRPr lang="ru-RU" noProof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530193B-564F-4854-8A52-728F3FB19C85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4206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Пользовательский макет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Рисунок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6" name="Шестиугольник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4" name="Шестиугольник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6" name="Шестиугольник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8" name="Шестиугольник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0" name="Шестиугольник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Щелкните, чтобы изменить образец</a:t>
            </a:r>
          </a:p>
        </p:txBody>
      </p:sp>
      <p:sp>
        <p:nvSpPr>
          <p:cNvPr id="24" name="Текст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ru-RU" noProof="0"/>
              <a:t>Щелкните, чтобы изменить текст</a:t>
            </a:r>
          </a:p>
        </p:txBody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rtlCol="0"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</p:spTree>
    <p:extLst>
      <p:ext uri="{BB962C8B-B14F-4D97-AF65-F5344CB8AC3E}">
        <p14:creationId xmlns:p14="http://schemas.microsoft.com/office/powerpoint/2010/main" val="781487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Пользовательский макет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Рисунок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2" name="Прямоугольник 1" descr="Устремленное вверх высокое офисное здание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4" name="Текст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 rtlCol="0"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ru-RU" noProof="0"/>
              <a:t>Щелкните, чтобы изменить текст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Щелкните, чтобы изменить образец</a:t>
            </a:r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Пользовательский макет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Рисунок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3" name="Овал 2" descr="Устремленное вверх высокое офисное здание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5" name="Текст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rtlCol="0"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ru-RU" noProof="0"/>
              <a:t>Щелкните, чтобы изменить текст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 rtlCol="0"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686324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вест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Текст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Щелкните, чтобы изменить образец</a:t>
            </a:r>
          </a:p>
        </p:txBody>
      </p:sp>
    </p:spTree>
    <p:extLst>
      <p:ext uri="{BB962C8B-B14F-4D97-AF65-F5344CB8AC3E}">
        <p14:creationId xmlns:p14="http://schemas.microsoft.com/office/powerpoint/2010/main" val="694370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41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вед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вал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>
              <a:solidFill>
                <a:schemeClr val="accent5"/>
              </a:solidFill>
            </a:endParaRP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>
              <a:solidFill>
                <a:schemeClr val="accent5"/>
              </a:solidFill>
            </a:endParaRP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>
              <a:solidFill>
                <a:schemeClr val="accent5"/>
              </a:solidFill>
            </a:endParaRPr>
          </a:p>
        </p:txBody>
      </p:sp>
      <p:sp>
        <p:nvSpPr>
          <p:cNvPr id="23" name="Рисунок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Щелкните, чтобы изменить образец</a:t>
            </a:r>
          </a:p>
        </p:txBody>
      </p:sp>
    </p:spTree>
    <p:extLst>
      <p:ext uri="{BB962C8B-B14F-4D97-AF65-F5344CB8AC3E}">
        <p14:creationId xmlns:p14="http://schemas.microsoft.com/office/powerpoint/2010/main" val="84497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иаграмма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бъект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rtlCol="0"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651989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ст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endParaRPr lang="ru-RU" noProof="0"/>
          </a:p>
        </p:txBody>
      </p:sp>
      <p:sp>
        <p:nvSpPr>
          <p:cNvPr id="15" name="Шестиугольник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6" name="Шестиугольник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7" name="Шестиугольник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8" name="Шестиугольник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9" name="Рисунок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603056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Рисунок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38" name="Рисунок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40" name="Рисунок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41" name="Рисунок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ru-RU" sz="4800" b="1" noProof="0">
                <a:solidFill>
                  <a:schemeClr val="tx1"/>
                </a:solidFill>
              </a:rPr>
              <a:t>Образец заголовка</a:t>
            </a:r>
          </a:p>
        </p:txBody>
      </p:sp>
      <p:sp>
        <p:nvSpPr>
          <p:cNvPr id="9" name="Шестиугольник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Шестиугольник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1" name="Шестиугольник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ru-RU" noProof="0"/>
              <a:t>Щелкните, чтобы изменить </a:t>
            </a:r>
          </a:p>
        </p:txBody>
      </p:sp>
      <p:sp>
        <p:nvSpPr>
          <p:cNvPr id="24" name="Текст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ru-RU" noProof="0"/>
              <a:t>Щелкните, чтобы изменить </a:t>
            </a:r>
          </a:p>
        </p:txBody>
      </p:sp>
      <p:sp>
        <p:nvSpPr>
          <p:cNvPr id="27" name="Текст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ru-RU" noProof="0"/>
              <a:t>Щелкните, чтобы изменить </a:t>
            </a:r>
          </a:p>
        </p:txBody>
      </p:sp>
      <p:sp>
        <p:nvSpPr>
          <p:cNvPr id="28" name="Текст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ru-RU" noProof="0"/>
              <a:t>Щелкните, чтобы изменить </a:t>
            </a:r>
          </a:p>
        </p:txBody>
      </p:sp>
      <p:sp>
        <p:nvSpPr>
          <p:cNvPr id="29" name="Текст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ru-RU" noProof="0"/>
              <a:t>Щелкните, чтобы изменить </a:t>
            </a:r>
          </a:p>
        </p:txBody>
      </p:sp>
      <p:sp>
        <p:nvSpPr>
          <p:cNvPr id="30" name="Текст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ru-RU" noProof="0"/>
              <a:t>Щелкните, чтобы изменить </a:t>
            </a:r>
          </a:p>
        </p:txBody>
      </p:sp>
      <p:sp>
        <p:nvSpPr>
          <p:cNvPr id="31" name="Текст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ru-RU" noProof="0"/>
              <a:t>Щелкните, чтобы изменить </a:t>
            </a:r>
          </a:p>
        </p:txBody>
      </p:sp>
      <p:sp>
        <p:nvSpPr>
          <p:cNvPr id="32" name="Текст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ru-RU" noProof="0"/>
              <a:t>Щелкните, чтобы изменить </a:t>
            </a:r>
          </a:p>
        </p:txBody>
      </p:sp>
      <p:sp>
        <p:nvSpPr>
          <p:cNvPr id="33" name="Текст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ru-RU" noProof="0"/>
              <a:t>Щелкните, чтобы изменить </a:t>
            </a:r>
          </a:p>
        </p:txBody>
      </p:sp>
      <p:sp>
        <p:nvSpPr>
          <p:cNvPr id="34" name="Текст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ru-RU" noProof="0"/>
              <a:t>Щелкните, чтобы изменить </a:t>
            </a:r>
          </a:p>
        </p:txBody>
      </p:sp>
      <p:sp>
        <p:nvSpPr>
          <p:cNvPr id="37" name="Рисунок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Объект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</p:txBody>
      </p:sp>
      <p:sp>
        <p:nvSpPr>
          <p:cNvPr id="41" name="Объект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</p:txBody>
      </p:sp>
      <p:sp>
        <p:nvSpPr>
          <p:cNvPr id="42" name="Объект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</p:txBody>
      </p:sp>
      <p:sp>
        <p:nvSpPr>
          <p:cNvPr id="43" name="Объект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</p:txBody>
      </p:sp>
      <p:sp>
        <p:nvSpPr>
          <p:cNvPr id="44" name="Объект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</p:txBody>
      </p:sp>
      <p:sp>
        <p:nvSpPr>
          <p:cNvPr id="45" name="Объект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782706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ru-RU" sz="4800" b="1" noProof="0">
                <a:solidFill>
                  <a:schemeClr val="tx1"/>
                </a:solidFill>
              </a:rPr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280061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столбца с содержимы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Текст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>
              <a:solidFill>
                <a:schemeClr val="accent5"/>
              </a:solidFill>
            </a:endParaRPr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>
              <a:solidFill>
                <a:schemeClr val="accent5"/>
              </a:solidFill>
            </a:endParaRPr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>
              <a:solidFill>
                <a:schemeClr val="accent5"/>
              </a:solidFill>
            </a:endParaRPr>
          </a:p>
        </p:txBody>
      </p:sp>
      <p:sp>
        <p:nvSpPr>
          <p:cNvPr id="26" name="Текст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29" name="Текст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30" name="Текст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13" name="Рисунок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Щелкните, чтобы изменить образец</a:t>
            </a:r>
          </a:p>
        </p:txBody>
      </p:sp>
    </p:spTree>
    <p:extLst>
      <p:ext uri="{BB962C8B-B14F-4D97-AF65-F5344CB8AC3E}">
        <p14:creationId xmlns:p14="http://schemas.microsoft.com/office/powerpoint/2010/main" val="565901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ри столбца с содержимы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Текст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26" name="Текст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29" name="Текст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30" name="Текст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11" name="Текст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12" name="Текст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3" name="Шестиугольник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4" name="Шестиугольник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>
              <a:solidFill>
                <a:schemeClr val="accent1"/>
              </a:solidFill>
            </a:endParaRPr>
          </a:p>
        </p:txBody>
      </p:sp>
      <p:sp>
        <p:nvSpPr>
          <p:cNvPr id="5" name="Шестиугольник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>
              <a:solidFill>
                <a:schemeClr val="accent1"/>
              </a:solidFill>
            </a:endParaRPr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Щелкните, чтобы изменить образец</a:t>
            </a:r>
          </a:p>
        </p:txBody>
      </p:sp>
      <p:sp>
        <p:nvSpPr>
          <p:cNvPr id="16" name="Полилиния: фигура 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4096559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Овал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endParaRPr lang="ru-RU" noProof="0"/>
          </a:p>
        </p:txBody>
      </p:sp>
      <p:sp>
        <p:nvSpPr>
          <p:cNvPr id="17" name="Текст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endParaRPr lang="ru-RU" noProof="0"/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Щелкните, чтобы изменить образец</a:t>
            </a:r>
          </a:p>
        </p:txBody>
      </p:sp>
    </p:spTree>
    <p:extLst>
      <p:ext uri="{BB962C8B-B14F-4D97-AF65-F5344CB8AC3E}">
        <p14:creationId xmlns:p14="http://schemas.microsoft.com/office/powerpoint/2010/main" val="1316186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3">
            <a:extLst>
              <a:ext uri="{FF2B5EF4-FFF2-40B4-BE49-F238E27FC236}">
                <a16:creationId xmlns:a16="http://schemas.microsoft.com/office/drawing/2014/main" id="{A1AD702D-965C-40E9-8D23-D82E2CFA9E61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r>
              <a:rPr lang="ru-RU" sz="1100" noProof="0">
                <a:solidFill>
                  <a:schemeClr val="accent2"/>
                </a:solidFill>
              </a:rPr>
              <a:t>22.09.2020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93E0959-6855-4447-BAEC-D32B47712F07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ru-RU" sz="1100" b="1" noProof="0">
                <a:solidFill>
                  <a:schemeClr val="accent2"/>
                </a:solidFill>
              </a:rPr>
              <a:t>Годовой обзор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13A05B6A-9124-4DBB-843A-84818A8F79FC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0"/>
            <a:fld id="{2C18C1E5-FB55-42F5-BD6D-9CC153FCDBE6}" type="slidenum">
              <a:rPr lang="ru-RU" sz="1100" noProof="0" smtClean="0">
                <a:solidFill>
                  <a:schemeClr val="accent4"/>
                </a:solidFill>
              </a:rPr>
              <a:pPr algn="r"/>
              <a:t>‹#›</a:t>
            </a:fld>
            <a:endParaRPr lang="ru-RU" sz="1100" noProof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88" r:id="rId3"/>
    <p:sldLayoutId id="2147483681" r:id="rId4"/>
    <p:sldLayoutId id="2147483680" r:id="rId5"/>
    <p:sldLayoutId id="2147483682" r:id="rId6"/>
    <p:sldLayoutId id="2147483677" r:id="rId7"/>
    <p:sldLayoutId id="2147483654" r:id="rId8"/>
    <p:sldLayoutId id="2147483685" r:id="rId9"/>
    <p:sldLayoutId id="2147483684" r:id="rId10"/>
    <p:sldLayoutId id="2147483686" r:id="rId11"/>
    <p:sldLayoutId id="2147483687" r:id="rId12"/>
    <p:sldLayoutId id="214748367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7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 descr="Здание из синего стекла">
            <a:extLst>
              <a:ext uri="{FF2B5EF4-FFF2-40B4-BE49-F238E27FC236}">
                <a16:creationId xmlns:a16="http://schemas.microsoft.com/office/drawing/2014/main" id="{E6A5B61D-69C0-4661-AD66-3D72D9A6E86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alphaModFix amt="80000"/>
          </a:blip>
          <a:srcRect t="7802" b="7802"/>
          <a:stretch/>
        </p:blipFill>
        <p:spPr>
          <a:xfrm>
            <a:off x="0" y="0"/>
            <a:ext cx="12192000" cy="6858000"/>
          </a:xfrm>
          <a:blipFill dpi="0" rotWithShape="1"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</p:pic>
      <p:sp>
        <p:nvSpPr>
          <p:cNvPr id="6" name="Шестиугольник 5">
            <a:extLst>
              <a:ext uri="{FF2B5EF4-FFF2-40B4-BE49-F238E27FC236}">
                <a16:creationId xmlns:a16="http://schemas.microsoft.com/office/drawing/2014/main" id="{38AF5374-EA50-4722-BB45-6C182E5A1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/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BD837CEB-1A69-4F72-95D4-054D82F09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dirty="0"/>
              <a:t>Race for the time</a:t>
            </a:r>
            <a:endParaRPr lang="ru-RU" dirty="0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E6DF5064-7AAC-4887-9BD5-FB6BC40A67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/>
          <a:p>
            <a:pPr rtl="0"/>
            <a:r>
              <a:rPr lang="ru-RU" dirty="0"/>
              <a:t>Петухов Максим Александрович</a:t>
            </a:r>
          </a:p>
        </p:txBody>
      </p:sp>
      <p:sp>
        <p:nvSpPr>
          <p:cNvPr id="21" name="Шестиугольник 20">
            <a:extLst>
              <a:ext uri="{FF2B5EF4-FFF2-40B4-BE49-F238E27FC236}">
                <a16:creationId xmlns:a16="http://schemas.microsoft.com/office/drawing/2014/main" id="{35FAA64B-9D7A-4109-97E0-B0BAA29C4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/>
          </a:p>
        </p:txBody>
      </p:sp>
      <p:sp>
        <p:nvSpPr>
          <p:cNvPr id="16" name="Шестиугольник 15">
            <a:extLst>
              <a:ext uri="{FF2B5EF4-FFF2-40B4-BE49-F238E27FC236}">
                <a16:creationId xmlns:a16="http://schemas.microsoft.com/office/drawing/2014/main" id="{00A0E61B-8139-47E5-862B-C6D87AFF35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/>
          </a:p>
        </p:txBody>
      </p:sp>
      <p:sp>
        <p:nvSpPr>
          <p:cNvPr id="18" name="Шестиугольник 17">
            <a:extLst>
              <a:ext uri="{FF2B5EF4-FFF2-40B4-BE49-F238E27FC236}">
                <a16:creationId xmlns:a16="http://schemas.microsoft.com/office/drawing/2014/main" id="{B06F39E4-24A5-44F2-BD9A-7E8C8AF27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/>
          </a:p>
        </p:txBody>
      </p:sp>
      <p:sp>
        <p:nvSpPr>
          <p:cNvPr id="2" name="Шестиугольник 1">
            <a:extLst>
              <a:ext uri="{FF2B5EF4-FFF2-40B4-BE49-F238E27FC236}">
                <a16:creationId xmlns:a16="http://schemas.microsoft.com/office/drawing/2014/main" id="{62F7433A-0BB9-4B38-A96F-AB1B77772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993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AA61AFCA-9C3B-4F07-9509-9C9A6BC6DD1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/>
          <a:srcRect l="20464" r="20464"/>
          <a:stretch/>
        </p:blipFill>
        <p:spPr/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E1147BE1-84A4-4F50-8551-6778A54E21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ru-RU" dirty="0"/>
              <a:t>Создание игрового 2</a:t>
            </a:r>
            <a:r>
              <a:rPr lang="en-US" dirty="0"/>
              <a:t>D-</a:t>
            </a:r>
            <a:r>
              <a:rPr lang="ru-RU" dirty="0"/>
              <a:t>прототипа гоночной игры с использованием современных инструментов</a:t>
            </a:r>
            <a:r>
              <a:rPr lang="en-US" dirty="0"/>
              <a:t> (Arcade,Tiled,Python)</a:t>
            </a:r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EB946B0-4647-4287-AD09-AEAF5D1BA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Идея проекта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529419E6-5D31-48F2-BD15-7109ED7C4002}"/>
              </a:ext>
            </a:extLst>
          </p:cNvPr>
          <p:cNvSpPr/>
          <p:nvPr/>
        </p:nvSpPr>
        <p:spPr>
          <a:xfrm>
            <a:off x="439387" y="6216732"/>
            <a:ext cx="2796639" cy="57595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1DD645B6-1EE7-4FDA-8D72-3C00B11140F7}"/>
              </a:ext>
            </a:extLst>
          </p:cNvPr>
          <p:cNvSpPr/>
          <p:nvPr/>
        </p:nvSpPr>
        <p:spPr>
          <a:xfrm>
            <a:off x="11309268" y="6492154"/>
            <a:ext cx="197611" cy="30053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4333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15C8A59A-04EF-41D8-A6B6-6933AE82878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2442228"/>
          </a:xfrm>
        </p:spPr>
        <p:txBody>
          <a:bodyPr/>
          <a:lstStyle/>
          <a:p>
            <a:r>
              <a:rPr lang="ru-RU" dirty="0"/>
              <a:t>Образовательные и исследовательские задачи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Изучение игрового движка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Освоение с работы с </a:t>
            </a:r>
            <a:r>
              <a:rPr lang="en-US" dirty="0"/>
              <a:t>Tile</a:t>
            </a: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Применение ООП на практике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Понимание коллизий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2CA8720A-ED71-46D6-A885-1333F976E8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957417" y="2117896"/>
            <a:ext cx="4208386" cy="2442229"/>
          </a:xfrm>
        </p:spPr>
        <p:txBody>
          <a:bodyPr/>
          <a:lstStyle/>
          <a:p>
            <a:r>
              <a:rPr lang="ru-RU" dirty="0"/>
              <a:t>Технические и алгоритмические задачи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Обработка пользовательского ввода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Управление виртуальной камерой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Физика движения 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Управление состоянием игры</a:t>
            </a:r>
          </a:p>
        </p:txBody>
      </p:sp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5176A5DA-22E7-4AB6-9BC4-BB8F5177C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Для решений каких задач он создан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E99233A-6003-4013-93A4-D347502DAE76}"/>
              </a:ext>
            </a:extLst>
          </p:cNvPr>
          <p:cNvSpPr/>
          <p:nvPr/>
        </p:nvSpPr>
        <p:spPr>
          <a:xfrm>
            <a:off x="439387" y="6216732"/>
            <a:ext cx="2796639" cy="57595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63D2FD3-01A1-4649-A8B0-585CB16C9794}"/>
              </a:ext>
            </a:extLst>
          </p:cNvPr>
          <p:cNvSpPr/>
          <p:nvPr/>
        </p:nvSpPr>
        <p:spPr>
          <a:xfrm>
            <a:off x="8851076" y="6052787"/>
            <a:ext cx="2796639" cy="57595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8229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ED10A86-3208-415E-BB35-2769DA24C10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Python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3A1DF38-ED5D-4B5E-BADD-D84160C371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Основной язык программирование 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712F6DC-D3E1-46C7-A52D-88F115F9EB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Tiled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45103B1-BDF5-4DA3-97AB-F0F73186840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ru-RU" dirty="0"/>
              <a:t>Редактор карт для создание уровней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5B13E03-C05D-4FF8-9B3C-F37FFF5D70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Arcade</a:t>
            </a:r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496AF779-21D3-42D6-8C87-DAAD9538681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ru-RU" dirty="0"/>
              <a:t>Игровой движок и библиотека для </a:t>
            </a:r>
            <a:r>
              <a:rPr lang="en-US" dirty="0"/>
              <a:t>2D-</a:t>
            </a:r>
            <a:r>
              <a:rPr lang="ru-RU" dirty="0"/>
              <a:t>графики</a:t>
            </a:r>
          </a:p>
        </p:txBody>
      </p:sp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5621D4BE-51C3-4B83-B9E2-78B8C9408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7777018" cy="830997"/>
          </a:xfrm>
        </p:spPr>
        <p:txBody>
          <a:bodyPr/>
          <a:lstStyle/>
          <a:p>
            <a:r>
              <a:rPr lang="ru-RU" dirty="0"/>
              <a:t>Технология и инструменты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61742E0-3B45-4D2C-8BDC-4743E1780176}"/>
              </a:ext>
            </a:extLst>
          </p:cNvPr>
          <p:cNvSpPr/>
          <p:nvPr/>
        </p:nvSpPr>
        <p:spPr>
          <a:xfrm>
            <a:off x="326571" y="6052787"/>
            <a:ext cx="2796639" cy="57595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A660ED2-2BBB-487A-A812-018C5EF702A9}"/>
              </a:ext>
            </a:extLst>
          </p:cNvPr>
          <p:cNvSpPr/>
          <p:nvPr/>
        </p:nvSpPr>
        <p:spPr>
          <a:xfrm>
            <a:off x="439387" y="6216732"/>
            <a:ext cx="2796639" cy="57595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322C959-42E8-4BF4-AC6A-003320920560}"/>
              </a:ext>
            </a:extLst>
          </p:cNvPr>
          <p:cNvSpPr/>
          <p:nvPr/>
        </p:nvSpPr>
        <p:spPr>
          <a:xfrm>
            <a:off x="9177647" y="6137563"/>
            <a:ext cx="2796639" cy="57595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80937D-2A19-412A-ACE6-78F90BE6039A}"/>
              </a:ext>
            </a:extLst>
          </p:cNvPr>
          <p:cNvSpPr txBox="1"/>
          <p:nvPr/>
        </p:nvSpPr>
        <p:spPr>
          <a:xfrm>
            <a:off x="3048495" y="4023153"/>
            <a:ext cx="433201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Проект</a:t>
            </a:r>
          </a:p>
          <a:p>
            <a:r>
              <a:rPr lang="ru-RU" dirty="0"/>
              <a:t>secproject.py      (Основной код игры)</a:t>
            </a:r>
          </a:p>
          <a:p>
            <a:r>
              <a:rPr lang="ru-RU" dirty="0"/>
              <a:t>DRIVE.wav           (Фоновая музыка)</a:t>
            </a:r>
          </a:p>
          <a:p>
            <a:r>
              <a:rPr lang="ru-RU" dirty="0"/>
              <a:t>PNG/caranime/       (Спрайты автомобилей)</a:t>
            </a:r>
          </a:p>
          <a:p>
            <a:r>
              <a:rPr lang="ru-RU" dirty="0"/>
              <a:t>racefirst.tmx       (Легкий уровень (Tiled))</a:t>
            </a:r>
          </a:p>
          <a:p>
            <a:r>
              <a:rPr lang="ru-RU" dirty="0"/>
              <a:t>racesec.tmx         (Сложный уровень (Tiled))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693D5A24-3C39-4328-B4F8-FC9A919BA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9552" y="3791861"/>
            <a:ext cx="2358115" cy="2260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298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66654E-C419-4BFD-87F7-3B5357171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Классы</a:t>
            </a:r>
          </a:p>
        </p:txBody>
      </p:sp>
      <p:sp>
        <p:nvSpPr>
          <p:cNvPr id="3" name="Прямоугольник: скругленные верхние углы 2">
            <a:extLst>
              <a:ext uri="{FF2B5EF4-FFF2-40B4-BE49-F238E27FC236}">
                <a16:creationId xmlns:a16="http://schemas.microsoft.com/office/drawing/2014/main" id="{86695640-6C24-4DB5-939B-EBCD25D0A621}"/>
              </a:ext>
            </a:extLst>
          </p:cNvPr>
          <p:cNvSpPr/>
          <p:nvPr/>
        </p:nvSpPr>
        <p:spPr>
          <a:xfrm>
            <a:off x="4162302" y="997757"/>
            <a:ext cx="2695699" cy="1110343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MenuView</a:t>
            </a:r>
          </a:p>
          <a:p>
            <a:pPr algn="ctr"/>
            <a:r>
              <a:rPr lang="en-US" dirty="0"/>
              <a:t>(</a:t>
            </a:r>
            <a:r>
              <a:rPr lang="ru-RU" dirty="0"/>
              <a:t>Меню)</a:t>
            </a:r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C389E8F6-8CCD-46A3-9388-79D7AC1E157C}"/>
              </a:ext>
            </a:extLst>
          </p:cNvPr>
          <p:cNvSpPr/>
          <p:nvPr/>
        </p:nvSpPr>
        <p:spPr>
          <a:xfrm>
            <a:off x="4162302" y="2559132"/>
            <a:ext cx="2695699" cy="1110343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GameView</a:t>
            </a:r>
          </a:p>
          <a:p>
            <a:pPr algn="ctr"/>
            <a:r>
              <a:rPr lang="en-US" dirty="0"/>
              <a:t>(</a:t>
            </a:r>
            <a:r>
              <a:rPr lang="ru-RU" dirty="0"/>
              <a:t>Игра)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7A26D81-8B46-4C3C-84C7-5368947C914E}"/>
              </a:ext>
            </a:extLst>
          </p:cNvPr>
          <p:cNvSpPr/>
          <p:nvPr/>
        </p:nvSpPr>
        <p:spPr>
          <a:xfrm>
            <a:off x="4162302" y="4298868"/>
            <a:ext cx="2695699" cy="128253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ResultsView</a:t>
            </a:r>
          </a:p>
          <a:p>
            <a:pPr algn="ctr"/>
            <a:r>
              <a:rPr lang="en-US" dirty="0"/>
              <a:t>(</a:t>
            </a:r>
            <a:r>
              <a:rPr lang="ru-RU" dirty="0"/>
              <a:t>Результаты)</a:t>
            </a:r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6656952E-6C53-40F8-B4B9-99C855638D33}"/>
              </a:ext>
            </a:extLst>
          </p:cNvPr>
          <p:cNvCxnSpPr>
            <a:stCxn id="3" idx="1"/>
            <a:endCxn id="4" idx="0"/>
          </p:cNvCxnSpPr>
          <p:nvPr/>
        </p:nvCxnSpPr>
        <p:spPr>
          <a:xfrm>
            <a:off x="5510152" y="2108100"/>
            <a:ext cx="0" cy="451032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B775D173-B721-4020-859B-958705974255}"/>
              </a:ext>
            </a:extLst>
          </p:cNvPr>
          <p:cNvCxnSpPr>
            <a:stCxn id="4" idx="4"/>
            <a:endCxn id="5" idx="0"/>
          </p:cNvCxnSpPr>
          <p:nvPr/>
        </p:nvCxnSpPr>
        <p:spPr>
          <a:xfrm>
            <a:off x="5510152" y="3669475"/>
            <a:ext cx="0" cy="62939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4B3BD1E-9F9C-4047-94E8-100A28A7E128}"/>
              </a:ext>
            </a:extLst>
          </p:cNvPr>
          <p:cNvSpPr txBox="1"/>
          <p:nvPr/>
        </p:nvSpPr>
        <p:spPr>
          <a:xfrm>
            <a:off x="7267698" y="1223158"/>
            <a:ext cx="23810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Главное меню</a:t>
            </a:r>
          </a:p>
          <a:p>
            <a:r>
              <a:rPr lang="ru-RU" dirty="0"/>
              <a:t>Выбор сложности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907289-4828-47F3-8285-D5C5BC01E496}"/>
              </a:ext>
            </a:extLst>
          </p:cNvPr>
          <p:cNvSpPr txBox="1"/>
          <p:nvPr/>
        </p:nvSpPr>
        <p:spPr>
          <a:xfrm>
            <a:off x="7426035" y="2794980"/>
            <a:ext cx="32261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Основной игровой процесс</a:t>
            </a:r>
          </a:p>
          <a:p>
            <a:r>
              <a:rPr lang="ru-RU" dirty="0"/>
              <a:t>Управление, физика, коллизии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B33C2F-BDE4-4B58-B571-57E03C5E7861}"/>
              </a:ext>
            </a:extLst>
          </p:cNvPr>
          <p:cNvSpPr txBox="1"/>
          <p:nvPr/>
        </p:nvSpPr>
        <p:spPr>
          <a:xfrm>
            <a:off x="7566560" y="4616969"/>
            <a:ext cx="23810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Экран результатов</a:t>
            </a:r>
          </a:p>
          <a:p>
            <a:r>
              <a:rPr lang="ru-RU" dirty="0"/>
              <a:t>Время прохождения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BAC7AAA-80C8-4423-A37E-668EC4AA4512}"/>
              </a:ext>
            </a:extLst>
          </p:cNvPr>
          <p:cNvSpPr/>
          <p:nvPr/>
        </p:nvSpPr>
        <p:spPr>
          <a:xfrm>
            <a:off x="439387" y="6216732"/>
            <a:ext cx="2796639" cy="57595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1042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ED10A86-3208-415E-BB35-2769DA24C10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Физика движение автомобиля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712F6DC-D3E1-46C7-A52D-88F115F9EB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37418" y="2068382"/>
            <a:ext cx="3474720" cy="438150"/>
          </a:xfrm>
        </p:spPr>
        <p:txBody>
          <a:bodyPr/>
          <a:lstStyle/>
          <a:p>
            <a:r>
              <a:rPr lang="ru-RU" dirty="0"/>
              <a:t>Визуальные эффекты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5B13E03-C05D-4FF8-9B3C-F37FFF5D70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67927" y="2037656"/>
            <a:ext cx="3474720" cy="438150"/>
          </a:xfrm>
        </p:spPr>
        <p:txBody>
          <a:bodyPr/>
          <a:lstStyle/>
          <a:p>
            <a:r>
              <a:rPr lang="ru-RU" dirty="0"/>
              <a:t>Следящая камера</a:t>
            </a:r>
          </a:p>
        </p:txBody>
      </p:sp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5621D4BE-51C3-4B83-B9E2-78B8C9408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7777018" cy="830997"/>
          </a:xfrm>
        </p:spPr>
        <p:txBody>
          <a:bodyPr/>
          <a:lstStyle/>
          <a:p>
            <a:r>
              <a:rPr lang="ru-RU" dirty="0"/>
              <a:t>Особенности реализации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A660ED2-2BBB-487A-A812-018C5EF702A9}"/>
              </a:ext>
            </a:extLst>
          </p:cNvPr>
          <p:cNvSpPr/>
          <p:nvPr/>
        </p:nvSpPr>
        <p:spPr>
          <a:xfrm>
            <a:off x="439387" y="6216732"/>
            <a:ext cx="2796639" cy="57595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322C959-42E8-4BF4-AC6A-003320920560}"/>
              </a:ext>
            </a:extLst>
          </p:cNvPr>
          <p:cNvSpPr/>
          <p:nvPr/>
        </p:nvSpPr>
        <p:spPr>
          <a:xfrm>
            <a:off x="9177647" y="6137563"/>
            <a:ext cx="2796639" cy="57595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1A48F8E-048B-4D58-87B1-9F29035D1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080" y="3144466"/>
            <a:ext cx="3957360" cy="2479354"/>
          </a:xfrm>
          <a:prstGeom prst="rect">
            <a:avLst/>
          </a:prstGeom>
        </p:spPr>
      </p:pic>
      <p:sp>
        <p:nvSpPr>
          <p:cNvPr id="24" name="Текст 5">
            <a:extLst>
              <a:ext uri="{FF2B5EF4-FFF2-40B4-BE49-F238E27FC236}">
                <a16:creationId xmlns:a16="http://schemas.microsoft.com/office/drawing/2014/main" id="{2F76299B-B4EF-486E-8E6D-4F90BE83F172}"/>
              </a:ext>
            </a:extLst>
          </p:cNvPr>
          <p:cNvSpPr txBox="1">
            <a:spLocks/>
          </p:cNvSpPr>
          <p:nvPr/>
        </p:nvSpPr>
        <p:spPr>
          <a:xfrm>
            <a:off x="419080" y="5778581"/>
            <a:ext cx="4734313" cy="889414"/>
          </a:xfrm>
          <a:prstGeom prst="rect">
            <a:avLst/>
          </a:prstGeom>
        </p:spPr>
        <p:txBody>
          <a:bodyPr rtlCol="0"/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0" dirty="0"/>
              <a:t>Инерция, замедление, разгон</a:t>
            </a:r>
            <a:endParaRPr lang="en-US" b="0" dirty="0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2728B6F7-4F1F-46CE-8DE2-FA3385963C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7927" y="3144466"/>
            <a:ext cx="2767400" cy="1024081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9423EB4D-262F-435D-8C04-C07F3222BD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2647" y="3144466"/>
            <a:ext cx="3524562" cy="1769812"/>
          </a:xfrm>
          <a:prstGeom prst="rect">
            <a:avLst/>
          </a:prstGeom>
        </p:spPr>
      </p:pic>
      <p:sp>
        <p:nvSpPr>
          <p:cNvPr id="29" name="Текст 5">
            <a:extLst>
              <a:ext uri="{FF2B5EF4-FFF2-40B4-BE49-F238E27FC236}">
                <a16:creationId xmlns:a16="http://schemas.microsoft.com/office/drawing/2014/main" id="{34BB017A-AF77-4937-A531-F71BB7476C8F}"/>
              </a:ext>
            </a:extLst>
          </p:cNvPr>
          <p:cNvSpPr txBox="1">
            <a:spLocks/>
          </p:cNvSpPr>
          <p:nvPr/>
        </p:nvSpPr>
        <p:spPr>
          <a:xfrm>
            <a:off x="8242647" y="5414403"/>
            <a:ext cx="3711554" cy="1253592"/>
          </a:xfrm>
          <a:prstGeom prst="rect">
            <a:avLst/>
          </a:prstGeom>
        </p:spPr>
        <p:txBody>
          <a:bodyPr rtlCol="0"/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0" dirty="0"/>
              <a:t>За счет формулы узнается угол поворота машины для создания частиц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4232188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AC79B63B-D38B-46F5-9A2D-5CA9037291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Выводы по работе</a:t>
            </a:r>
            <a:r>
              <a:rPr lang="en-US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Создан полноценный прототип гоночной игры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Реализованные основные механики игры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Сделано с помощью </a:t>
            </a:r>
            <a:r>
              <a:rPr lang="en-US" dirty="0"/>
              <a:t>Tiled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A7B1479-1127-41DB-90EC-9D5E63E43EE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700" y="4478905"/>
            <a:ext cx="4143375" cy="1904081"/>
          </a:xfrm>
        </p:spPr>
        <p:txBody>
          <a:bodyPr/>
          <a:lstStyle/>
          <a:p>
            <a:r>
              <a:rPr lang="ru-RU" dirty="0"/>
              <a:t>Для доработки и развития</a:t>
            </a:r>
            <a:r>
              <a:rPr lang="en-US" dirty="0"/>
              <a:t>:</a:t>
            </a:r>
            <a:endParaRPr lang="ru-RU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AI </a:t>
            </a:r>
            <a:r>
              <a:rPr lang="ru-RU" dirty="0"/>
              <a:t>противника </a:t>
            </a:r>
            <a:br>
              <a:rPr lang="ru-RU" dirty="0"/>
            </a:br>
            <a:r>
              <a:rPr lang="ru-RU" dirty="0"/>
              <a:t>таблицы рекордов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Разные типы автомобилей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Бонусы на трасе и тд.</a:t>
            </a:r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FF8B48E3-FD12-4E92-8478-793B42E88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F369F27-93F5-4AAA-93A7-6DB5DFE4B437}"/>
              </a:ext>
            </a:extLst>
          </p:cNvPr>
          <p:cNvSpPr/>
          <p:nvPr/>
        </p:nvSpPr>
        <p:spPr>
          <a:xfrm>
            <a:off x="445325" y="6460177"/>
            <a:ext cx="2796639" cy="27907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F8EE774-F3B5-4685-97B6-6C1E7F35B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2422" y="1035884"/>
            <a:ext cx="2407557" cy="4161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17993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Geometric Presentation">
      <a:dk1>
        <a:sysClr val="windowText" lastClr="000000"/>
      </a:dk1>
      <a:lt1>
        <a:sysClr val="window" lastClr="FFFFFF"/>
      </a:lt1>
      <a:dk2>
        <a:srgbClr val="44546A"/>
      </a:dk2>
      <a:lt2>
        <a:srgbClr val="ACCBF9"/>
      </a:lt2>
      <a:accent1>
        <a:srgbClr val="5C83C4"/>
      </a:accent1>
      <a:accent2>
        <a:srgbClr val="2C599D"/>
      </a:accent2>
      <a:accent3>
        <a:srgbClr val="1A3B70"/>
      </a:accent3>
      <a:accent4>
        <a:srgbClr val="FA6F1A"/>
      </a:accent4>
      <a:accent5>
        <a:srgbClr val="11224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147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49603286_TF16411253_Win32.potx" id="{ECC90A19-8128-4489-91E9-D01AFC784BC1}" vid="{5E44D11E-26FC-4BE9-8703-0F02BED8A6D0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Геометрическая презентация</Template>
  <TotalTime>81</TotalTime>
  <Words>221</Words>
  <Application>Microsoft Office PowerPoint</Application>
  <PresentationFormat>Широкоэкранный</PresentationFormat>
  <Paragraphs>57</Paragraphs>
  <Slides>7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Corbel</vt:lpstr>
      <vt:lpstr>Wingdings</vt:lpstr>
      <vt:lpstr>Тема Office</vt:lpstr>
      <vt:lpstr>Race for the time</vt:lpstr>
      <vt:lpstr>Идея проекта</vt:lpstr>
      <vt:lpstr>Для решений каких задач он создан?</vt:lpstr>
      <vt:lpstr>Технология и инструменты</vt:lpstr>
      <vt:lpstr>Классы</vt:lpstr>
      <vt:lpstr>Особенности реализации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Ежегодный обзор</dc:title>
  <dc:creator>слизь Максим</dc:creator>
  <cp:lastModifiedBy>слизь Максим</cp:lastModifiedBy>
  <cp:revision>8</cp:revision>
  <dcterms:created xsi:type="dcterms:W3CDTF">2026-02-17T07:20:19Z</dcterms:created>
  <dcterms:modified xsi:type="dcterms:W3CDTF">2026-02-17T08:42:06Z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